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COMP0222  Coursework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7627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AA"/>
                </a:solidFill>
              </a:rPr>
              <a:t>Visual and LiDAR SLAM with Own Sequences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880360"/>
            <a:ext cx="10881360" cy="0"/>
          </a:xfrm>
          <a:prstGeom prst="line">
            <a:avLst/>
          </a:prstGeom>
          <a:ln w="19050">
            <a:solidFill>
              <a:srgbClr val="FF8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0358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Group 32  —  Muhammad Maaz  ·  Harmish Zala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1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58768"/>
            <a:ext cx="5394960" cy="16916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00D4AA"/>
                </a:solidFill>
              </a:rPr>
              <a:t>Part 1 — Visual SLAM (Q2)</a:t>
            </a:r>
          </a:p>
          <a:p>
            <a:r>
              <a:rPr sz="1100">
                <a:solidFill>
                  <a:srgbClr val="E6EDF3"/>
                </a:solidFill>
              </a:rPr>
              <a:t>Own monocular sequences captured with RealSense D455.
COLMAP reconstruction vs ORB-SLAM2 comparison.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858768"/>
            <a:ext cx="5394960" cy="16916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FF8C42"/>
                </a:solidFill>
              </a:rPr>
              <a:t>Part 2 — LiDAR SLAM (Q3)</a:t>
            </a:r>
          </a:p>
          <a:p>
            <a:r>
              <a:rPr sz="1100">
                <a:solidFill>
                  <a:srgbClr val="E6EDF3"/>
                </a:solidFill>
              </a:rPr>
              <a:t>Own 2D LiDAR sequences with RPLidar A2M12.
Parameter sweep · loop closure · pose-graph optimisation.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Agenda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50392"/>
            <a:ext cx="11365992" cy="0"/>
          </a:xfrm>
          <a:prstGeom prst="line">
            <a:avLst/>
          </a:prstGeom>
          <a:ln w="127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987552"/>
            <a:ext cx="594360" cy="6217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4572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Q2a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241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Capture and calibration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0759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RealSense D455 monocular capture. Iterative protocol. COLMAP per-sequence self-calibration.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38528"/>
            <a:ext cx="594360" cy="6217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4572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Q2b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7510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COLMAP vs ORB-SLAM2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585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EVO Umeyama Sim(3) alignment. Indoor (Basement_2): 155 pairs, 46° scale ambiguity. Outdoor (OnePoolStreet1): 576 pairs, 2.5° agreement.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89504"/>
            <a:ext cx="594360" cy="6217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4572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Q3a/b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26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LiDAR sequences + parameter sweep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0954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RPLidar A2M12. Four parameters × three sequences. Why max range dominates.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840480"/>
            <a:ext cx="594360" cy="6217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4572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Q3c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87705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Loop closure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16052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Four-gate filter. ICP overlap histogram shows bimodal gap at 0.70.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791456"/>
            <a:ext cx="594360" cy="6217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4572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Q3d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828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Factor graph optimisation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1114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</a:rPr>
              <a:t>GTSAM SE(2) pose graph. LM cost drops 8–25× but closure error grows — Hessian tension explained.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Visual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Q2 — own indoor and outdoor monocular sequences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10128"/>
            <a:ext cx="4297680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848×480  30fps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9 sequences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COLMAP + ORB-SLAM2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VISUAL SLAM  ›  Q2A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Q2(a) Capture and calibration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850392"/>
            <a:ext cx="11365992" cy="0"/>
          </a:xfrm>
          <a:prstGeom prst="line">
            <a:avLst/>
          </a:prstGeom>
          <a:ln w="127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6012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Rig and capture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298448"/>
            <a:ext cx="5596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Intel RealSense D455, RGB 848×480, ~30 fps 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68195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568195"/>
            <a:ext cx="5596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0.3–0.5 m/s walking speed — 1–1.5 cm/frame, well below ORB matching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37943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37943"/>
            <a:ext cx="5596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Continuous video stream, NOT stills — initialiser needs small frame-to-frame baselines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07691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107691"/>
            <a:ext cx="5596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1 s pause + slow 90° pan at each corner — multi-view diversity for COLMAP bundle adjustment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377439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2377439"/>
            <a:ext cx="5596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9 sequences: Basement_1 (41 m indoor) and Outdoor_1 (30 m outdoor) are primary sequences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647187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2647187"/>
            <a:ext cx="5596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Monitored ORB-SLAM2 live; slowed walking when tracked features &lt; 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18211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Calibration via COLMAP self-calibration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493008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493008"/>
            <a:ext cx="5596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Per-sequence OPENCV 8-param model: fx, fy, cx, cy, k1, k2, p1, 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762756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3762756"/>
            <a:ext cx="5596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All per-seq intrinsics within 0.3–1.6% of D455 factory value (fx=426.68 px)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032504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4032504"/>
            <a:ext cx="5596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Scratch SIMPLE_PINHOLE on Basement_1 (no prior): f=415.4 px — 2.6% below factory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302252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302252"/>
            <a:ext cx="5596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Model forces fx=fy; D455 is mildly asymmetric (fx≠fy) — not a calibration 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72000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4572000"/>
            <a:ext cx="5596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Floor7_Hallway: COLMAP registered only 8 poses — featureless white corridor → focal blowup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413248"/>
            <a:ext cx="5943600" cy="658368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 bIns="64008"/>
          <a:lstStyle/>
          <a:p>
            <a:pPr algn="ctr"/>
            <a:r>
              <a:rPr sz="1100">
                <a:solidFill>
                  <a:srgbClr val="E6EDF3"/>
                </a:solidFill>
              </a:rPr>
              <a:t>Per-sequence OPENCV calibration is adequate for the low-distortion D455. Scratch run confirms factory prior is trustworthy to within ~3%.</a:t>
            </a:r>
          </a:p>
        </p:txBody>
      </p:sp>
      <p:pic>
        <p:nvPicPr>
          <p:cNvPr id="31" name="Picture 30" descr="q2a_calibration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96112"/>
            <a:ext cx="5394960" cy="30639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00800" y="523036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B949E"/>
                </a:solidFill>
              </a:rPr>
              <a:t>COLMAP intrinsics vs D455 factory (dashed red). All on-line except Floor7 (focal blowup).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VISUAL SLAM  ›  Q2A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Q2(a) ORB-SLAM2 trajectories — all 9 sequences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850392"/>
            <a:ext cx="11365992" cy="0"/>
          </a:xfrm>
          <a:prstGeom prst="line">
            <a:avLst/>
          </a:prstGeom>
          <a:ln w="127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q2a_all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96112"/>
            <a:ext cx="6858000" cy="43564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85216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B949E"/>
                </a:solidFill>
              </a:rPr>
              <a:t>All 9 sequences. Plasma colour = time (dark=early, bright=late). Green=start, Red=end. Hatched=&lt;500 poses.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960120"/>
            <a:ext cx="2011680" cy="320040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Sequence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960120"/>
            <a:ext cx="822960" cy="320040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0" y="960120"/>
            <a:ext cx="1005840" cy="320040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ORB Poses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47120" y="960120"/>
            <a:ext cx="777240" cy="320040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COLMAP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280160"/>
            <a:ext cx="2011680" cy="320040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Basement_2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1280160"/>
            <a:ext cx="822960" cy="320040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Indoor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0" y="1280160"/>
            <a:ext cx="1005840" cy="320040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2336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247120" y="1280160"/>
            <a:ext cx="777240" cy="320040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233 poses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600200"/>
            <a:ext cx="201168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OnePoolStreet1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1600200"/>
            <a:ext cx="82296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Outdoor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1600200"/>
            <a:ext cx="10058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5759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247120" y="1600200"/>
            <a:ext cx="7772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616 poses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828800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Why these two?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176272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2176272"/>
            <a:ext cx="4453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Basement_2: full rectangular indoor loop — 2 complete circuits visible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446020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1" y="2446020"/>
            <a:ext cx="4453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Rich wall texture → COLMAP triangulates from both sides of the 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715768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2715768"/>
            <a:ext cx="4453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OnePoolStreet1: outdoor, 576 COLMAP-matched pairs — best outdoor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985515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2985515"/>
            <a:ext cx="4453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Building facade gives enough features; open courtyard with 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255263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1" y="3255263"/>
            <a:ext cx="445312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Brief: ≥500 frames after init — both sequences satisfy this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4160520"/>
            <a:ext cx="4617720" cy="777240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 bIns="64008"/>
          <a:lstStyle/>
          <a:p>
            <a:pPr algn="ctr"/>
            <a:r>
              <a:rPr sz="1000">
                <a:solidFill>
                  <a:srgbClr val="E6EDF3"/>
                </a:solidFill>
              </a:rPr>
              <a:t>9 sequences recorded total. These 2 give the clearest COLMAP vs ORB-SLAM2 comparison. BikeStorage2 (night, 114 poses) documented as explicit failure case.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VISUAL SLAM  ›  Q2B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Q2(b) COLMAP reconstruction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850392"/>
            <a:ext cx="11365992" cy="0"/>
          </a:xfrm>
          <a:prstGeom prst="line">
            <a:avLst/>
          </a:prstGeom>
          <a:ln w="127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q2b_pointcloud_basemen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96112"/>
            <a:ext cx="5943600" cy="27031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16636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B949E"/>
                </a:solidFill>
              </a:rPr>
              <a:t>Basement_2 COLMAP sparse map — 5810 points, 233 cameras. Clear rectangular room shape.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960120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8272" y="960120"/>
            <a:ext cx="52303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No external ground truth — report inter-method disagreement (EVO Umeyama Sim(3) + scale)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29868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1229868"/>
            <a:ext cx="52303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Basement_2 (indoor): full rectangular loop, 2336 ORB poses, 233 COLMAP poses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499616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499616"/>
            <a:ext cx="52303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155 matched pairs — 3.0 m trans disagreement from monocular scale ambiguity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69363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1769363"/>
            <a:ext cx="52303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46° rotation = scale factor mismatch from insufficient baseline diversity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39112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039112"/>
            <a:ext cx="52303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Both methods trace the same rectangular shape — disagreement is metric not topological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08860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308860"/>
            <a:ext cx="52303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OnePoolStreet1 (outdoor): 5759 ORB poses, 616 COLMAP poses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78608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2578608"/>
            <a:ext cx="52303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576 matched pairs (best coverage of all sequences) — only 2.5° rotation disagreement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848356"/>
            <a:ext cx="2011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2848356"/>
            <a:ext cx="523036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3.0 m translation — outdoor scale ambiguity, but orientation agreement is near-perfect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4590288"/>
            <a:ext cx="5394960" cy="804672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 bIns="64008"/>
          <a:lstStyle/>
          <a:p>
            <a:pPr algn="ctr"/>
            <a:r>
              <a:rPr sz="1000">
                <a:solidFill>
                  <a:srgbClr val="E6EDF3"/>
                </a:solidFill>
              </a:rPr>
              <a:t>Basement_2 rotation disagreement (46°) = monocular scale ambiguity, not tracking failure. OnePoolStreet1's 2.5° rotation shows both methods agree on orientation despite scale. Neither result reflects inaccuracy — both reflect fundamental monocular limits.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VISUAL SLAM  ›  Q2B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Q2(b) APE maps and comparison table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850392"/>
            <a:ext cx="11365992" cy="0"/>
          </a:xfrm>
          <a:prstGeom prst="line">
            <a:avLst/>
          </a:prstGeom>
          <a:ln w="127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q2b_colmap_vs_orbsl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5577840" cy="58061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21208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B949E"/>
                </a:solidFill>
              </a:rPr>
              <a:t>COLMAP vs ORB-SLAM2 Sim(3)-aligned scatter: Basement_2 (indoor) + OnePoolStreet1 (outdoor)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Sequence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61872"/>
            <a:ext cx="2011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261872"/>
            <a:ext cx="541324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Basement_2: 2336 ORB KFs. Full rectangular loop — two complete circuits.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45336"/>
            <a:ext cx="2011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545336"/>
            <a:ext cx="541324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Tracking lost on return legs (landmarks invisible from opposite side)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2011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828800"/>
            <a:ext cx="541324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Relocalises on next outward pass. 155 COLMAP-matched pairs.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12264"/>
            <a:ext cx="2011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112264"/>
            <a:ext cx="541324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OnePoolStreet1: 5759 ORB KFs, 316 tracked (~12s of 191s total sequence).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95728"/>
            <a:ext cx="2011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395728"/>
            <a:ext cx="541324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Init delayed until building entrance — open courtyard = near-zero parallax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79192"/>
            <a:ext cx="2011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679192"/>
            <a:ext cx="541324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576 COLMAP matched pairs — best coverage of all sequences.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154680"/>
            <a:ext cx="2377440" cy="274320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3154680"/>
            <a:ext cx="1097280" cy="274320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Trans RMSE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19" y="3154680"/>
            <a:ext cx="914400" cy="274320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Rot RMSE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19" y="3154680"/>
            <a:ext cx="1188720" cy="274320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Matched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429000"/>
            <a:ext cx="2377440" cy="274320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Basement_2 (indoor)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3429000"/>
            <a:ext cx="1097280" cy="274320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3.004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19" y="3429000"/>
            <a:ext cx="914400" cy="274320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45.9°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19" y="3429000"/>
            <a:ext cx="1188720" cy="274320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155 pairs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703320"/>
            <a:ext cx="237744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OnePoolStreet1 (outdoor)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3703320"/>
            <a:ext cx="109728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3.004 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19" y="3703320"/>
            <a:ext cx="9144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2.5°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89919" y="3703320"/>
            <a:ext cx="118872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576 pairs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224528"/>
            <a:ext cx="5577840" cy="1024128"/>
          </a:xfrm>
          <a:prstGeom prst="rect">
            <a:avLst/>
          </a:prstGeom>
          <a:solidFill>
            <a:srgbClr val="161B22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 bIns="64008"/>
          <a:lstStyle/>
          <a:p>
            <a:pPr algn="ctr"/>
            <a:r>
              <a:rPr sz="1000">
                <a:solidFill>
                  <a:srgbClr val="E6EDF3"/>
                </a:solidFill>
              </a:rPr>
              <a:t>Both sequences show 3 m translation disagreement — monocular scale ambiguity, not tracking failure. Basement_2's 46° rotation = scale factor mismatch. OnePoolStreet1's 2.5° rotation shows near-perfect orientation agreement despite scale.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42"/>
                </a:solidFill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LiDAR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</a:rPr>
              <a:t>Q3 — own 2D LiDAR sequences, parameter sweep, loop closure, pose-graph optimisation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10128"/>
            <a:ext cx="4297680" cy="0"/>
          </a:xfrm>
          <a:prstGeom prst="line">
            <a:avLst/>
          </a:prstGeom>
          <a:ln w="25400">
            <a:solidFill>
              <a:srgbClr val="FF8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RPLidar A2M12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3 sequences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Loop closure + GTSAM PGO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C42"/>
                </a:solidFill>
              </a:rPr>
              <a:t>LIDAR SLAM  ›  Q3A / Q3B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Q3(a)/(b) Sequences and parameter sweep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850392"/>
            <a:ext cx="11365992" cy="0"/>
          </a:xfrm>
          <a:prstGeom prst="line">
            <a:avLst/>
          </a:prstGeom>
          <a:ln w="127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601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Three sequences  —  RPLidar A2M12, 360° scan, 12 m rated range, 90° blind-spot masked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20116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280160"/>
            <a:ext cx="532180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Basement_1 — Marshgate basement room, ~35 m path, 172 KFs. Best ICP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40763"/>
            <a:ext cx="20116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540763"/>
            <a:ext cx="532180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Floor7_Hallway — Marshgate 7th floor corridors, large open area, 135 KFs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01367"/>
            <a:ext cx="20116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01367"/>
            <a:ext cx="532180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Outdoor_1 — One Pool St courtyard. ICP diverges at scan 400, trajectory freezes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280160"/>
            <a:ext cx="20116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1280160"/>
            <a:ext cx="587044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Protocol: chalk marker, 2 clockwise loops, 0.4–0.8 m/s, return to exact start, remove marker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540763"/>
            <a:ext cx="20116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1540763"/>
            <a:ext cx="587044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Quality filter: discard q &lt; 5 ;  body mask: 135–225° ;  range gate: 10 mm – max_range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801367"/>
            <a:ext cx="20116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1801367"/>
            <a:ext cx="587044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Keyframe every Δdist &gt; 0.2 m  or  Δangle &gt; 0.2 rad from last keyframe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468880"/>
            <a:ext cx="3474720" cy="246888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Parameter setting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6200" y="2468880"/>
            <a:ext cx="2651760" cy="246888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Basement_1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468880"/>
            <a:ext cx="2651760" cy="246888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Floor7_Hallway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2468880"/>
            <a:ext cx="2697480" cy="246888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Outdoor_1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715768"/>
            <a:ext cx="347472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Baseline (range 12 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6200" y="2715768"/>
            <a:ext cx="265176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0.17 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2715768"/>
            <a:ext cx="265176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0.16 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2715768"/>
            <a:ext cx="269748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8.17 m (frozen)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962656"/>
            <a:ext cx="347472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Range 2000 mm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86200" y="2962656"/>
            <a:ext cx="265176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2.38 m  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2962656"/>
            <a:ext cx="265176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2.02 m  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2962656"/>
            <a:ext cx="269748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2.81 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209544"/>
            <a:ext cx="347472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Angular n=2 (every 2nd)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86200" y="3209544"/>
            <a:ext cx="265176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0.68 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3209544"/>
            <a:ext cx="265176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0.71 m 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3209544"/>
            <a:ext cx="269748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3.95 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456432"/>
            <a:ext cx="347472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Angular n=3 (every 3rd)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6200" y="3456432"/>
            <a:ext cx="265176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0.26 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3456432"/>
            <a:ext cx="265176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1.21 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3456432"/>
            <a:ext cx="269748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4.76 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703320"/>
            <a:ext cx="347472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Voxel 0.05 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86200" y="3703320"/>
            <a:ext cx="265176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0.41 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3703320"/>
            <a:ext cx="265176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0.14 m  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3703320"/>
            <a:ext cx="269748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12.4 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950208"/>
            <a:ext cx="347472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Voxel 0.10 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86200" y="3950208"/>
            <a:ext cx="265176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0.29 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3950208"/>
            <a:ext cx="265176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3.04 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89720" y="3950208"/>
            <a:ext cx="269748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6.22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4197096"/>
            <a:ext cx="347472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Voxel 0.20 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86200" y="4197096"/>
            <a:ext cx="265176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2.60 m  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37960" y="4197096"/>
            <a:ext cx="265176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2.94 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9720" y="4197096"/>
            <a:ext cx="269748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6.02 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443983"/>
            <a:ext cx="347472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Scan rate 50% (skip 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86200" y="4443983"/>
            <a:ext cx="265176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0.23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37960" y="4443983"/>
            <a:ext cx="265176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2.94 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9720" y="4443983"/>
            <a:ext cx="2697480" cy="246888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11.5 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4690871"/>
            <a:ext cx="347472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Scan rate 33% (skip 3)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86200" y="4690871"/>
            <a:ext cx="265176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0.26 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7960" y="4690871"/>
            <a:ext cx="265176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0.73 m  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4690871"/>
            <a:ext cx="2697480" cy="246888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10.9 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989320"/>
            <a:ext cx="11475720" cy="594360"/>
          </a:xfrm>
          <a:prstGeom prst="rect">
            <a:avLst/>
          </a:prstGeom>
          <a:solidFill>
            <a:srgbClr val="161B22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 bIns="64008"/>
          <a:lstStyle/>
          <a:p>
            <a:pPr algn="ctr"/>
            <a:r>
              <a:rPr sz="1000">
                <a:solidFill>
                  <a:srgbClr val="E6EDF3"/>
                </a:solidFill>
              </a:rPr>
              <a:t>Baseline: max range 12 m, all beams, no voxel, all scans. Closure error = Euclidean first↔last 2D pose distance. Outdoor_1 documented failure — open geometry collapses ICP.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C42"/>
                </a:solidFill>
              </a:rPr>
              <a:t>LIDAR SLAM  ›  Q3B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Q3(b) Key parameter findings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850392"/>
            <a:ext cx="11365992" cy="0"/>
          </a:xfrm>
          <a:prstGeom prst="line">
            <a:avLst/>
          </a:prstGeom>
          <a:ln w="127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q3b_grids_basement_1_max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4937760" cy="2611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01091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B949E"/>
                </a:solidFill>
              </a:rPr>
              <a:t>Max range grids — Basement_1. 2000 mm (near wall only → rank-deficient) vs 12000 mm (full map)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60120"/>
            <a:ext cx="2011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42431" y="960120"/>
            <a:ext cx="623620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Max range is the dominant parameter (factor 14×). ICP needs surface normals from both sides of motion to lock translation. At 2000 mm all returns lie on one line — normal equations rank-deficient along that axis, trajectory drifts. Outdoor exception: distant glass/vegetation at 12 m degrades ICP — shorter range filters these noisy returns.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398346"/>
            <a:ext cx="2011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1" y="1398346"/>
            <a:ext cx="623620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Angular subsampling degrades PCA normals. At n=2/3 the 5-NN span a wider arc → normal estimate noisier. 5° normal error on a 5 m wall ≈ 0.4 m per-step along-wall slip. Floor7 non-monotone: every-2nd-beam smooths micro-features the corridor over-fits at full 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836572"/>
            <a:ext cx="2011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431" y="1836572"/>
            <a:ext cx="623620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Voxel 0.05 m = optimal denoiser. Cell smaller than RPLidar noise (±5–20 mm) → centroid averages noise. At ≥0.10 m the cell spans real geometry; PCA normals average multiple wall orientations → ICP loses tangential wall constraint → collapses toward point-to-point.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274798"/>
            <a:ext cx="20116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1" y="2274798"/>
            <a:ext cx="6236208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Scan skipping non-monotone at Floor7. 33% rate gives more inter-scan parallax along the corridor axis (aperture problem, Lab 08 Activity 3B). Basement_1 flat: 4 cm/scan at 10 Hz stays inside ICP convergence basin at all rates.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C42"/>
                </a:solidFill>
              </a:rPr>
              <a:t>LIDAR SLAM  ›  Q3B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Q3(b) Occupancy grid maps — Basement_1 parameter sweep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850392"/>
            <a:ext cx="11365992" cy="0"/>
          </a:xfrm>
          <a:prstGeom prst="line">
            <a:avLst/>
          </a:prstGeom>
          <a:ln w="127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q3b_grids_basement_1_voxel_down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5394960" cy="1419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01091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B949E"/>
                </a:solidFill>
              </a:rPr>
              <a:t>Voxel grid: None / 0.05 m / 0.10 m / 0.20 m  — optimal at 0.05 m</a:t>
            </a:r>
          </a:p>
        </p:txBody>
      </p:sp>
      <p:pic>
        <p:nvPicPr>
          <p:cNvPr id="8" name="Picture 7" descr="q3b_grids_basement_1_angular_re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914400"/>
            <a:ext cx="5852160" cy="20507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5010912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B949E"/>
                </a:solidFill>
              </a:rPr>
              <a:t>Angular resolution: full / every-2nd / every-3rd beam  — full best for indoor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285232"/>
            <a:ext cx="11475720" cy="621792"/>
          </a:xfrm>
          <a:prstGeom prst="rect">
            <a:avLst/>
          </a:prstGeom>
          <a:solidFill>
            <a:srgbClr val="161B22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 bIns="64008"/>
          <a:lstStyle/>
          <a:p>
            <a:pPr algn="ctr"/>
            <a:r>
              <a:rPr sz="1000">
                <a:solidFill>
                  <a:srgbClr val="E6EDF3"/>
                </a:solidFill>
              </a:rPr>
              <a:t>Log-odds occupancy: +log(0.7/0.3) per hit, −log(0.4/0.6) per free. Clipped to [−4, +4]. Bresenham ray-casting from sensor pose. 0.05 m cell size.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C42"/>
                </a:solidFill>
              </a:rPr>
              <a:t>LIDAR SLAM  ›  Q3C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Q3(c) Loop closure detection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850392"/>
            <a:ext cx="11365992" cy="0"/>
          </a:xfrm>
          <a:prstGeom prst="line">
            <a:avLst/>
          </a:prstGeom>
          <a:ln w="127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q3c_basemen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5943600" cy="25325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74243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B949E"/>
                </a:solidFill>
              </a:rPr>
              <a:t>Basement_1: accepted loop arcs (magenta, left) + ICP overlap score histogram (right). Clear bimodal gap at 0.70.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96012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Four-gate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298448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1298448"/>
            <a:ext cx="52760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Gate 1: temporal separation j−i ≥ 10 KFs — prevent self-match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63624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1563624"/>
            <a:ext cx="52760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Gate 2: arc ≥ min(8 m, 40% total arc) — adaptive; short seqs still fire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1828800"/>
            <a:ext cx="52760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Gate 3: pose distance ≤ 2.0 m — geometric proximity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93976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093976"/>
            <a:ext cx="52760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Gate 4: ICP overlap score sij ≥ 0.70 — verified scan-level 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59152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359152"/>
            <a:ext cx="52760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sij = fraction of scan j points within 0.4 m of scan i after ICP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24328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624328"/>
            <a:ext cx="52760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NMS: keep highest-scoring in any 15-KF window — 1 factor per revisit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090672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401568"/>
            <a:ext cx="2286000" cy="265176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Sequence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3401568"/>
            <a:ext cx="1554480" cy="265176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Candidates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24159" y="3401568"/>
            <a:ext cx="1600200" cy="265176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Accepted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666744"/>
            <a:ext cx="2286000" cy="265176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Basement_1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3666744"/>
            <a:ext cx="1554480" cy="265176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2933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24159" y="3666744"/>
            <a:ext cx="1600200" cy="265176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931920"/>
            <a:ext cx="2286000" cy="265176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Floor7_Hallway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3931920"/>
            <a:ext cx="1554480" cy="265176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1991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24159" y="3931920"/>
            <a:ext cx="1600200" cy="265176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197096"/>
            <a:ext cx="2286000" cy="265176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Outdoor_1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4197096"/>
            <a:ext cx="1554480" cy="265176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24159" y="4197096"/>
            <a:ext cx="1600200" cy="265176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  (traj. frozen)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4645152"/>
            <a:ext cx="5440680" cy="932688"/>
          </a:xfrm>
          <a:prstGeom prst="rect">
            <a:avLst/>
          </a:prstGeom>
          <a:solidFill>
            <a:srgbClr val="161B22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 bIns="64008"/>
          <a:lstStyle/>
          <a:p>
            <a:pPr algn="ctr"/>
            <a:r>
              <a:rPr sz="1000">
                <a:solidFill>
                  <a:srgbClr val="E6EDF3"/>
                </a:solidFill>
              </a:rPr>
              <a:t>Histogram evidence: false matches (sliding-window shared geometry) cluster 0.45–0.60. True revisits cluster 0.75–0.95. Clean gap at 0.70 holds across both indoor sequences. Outdoor_1 detects 0 loops: frozen trajectory fails arc gate.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C42"/>
                </a:solidFill>
              </a:rPr>
              <a:t>LIDAR SLAM  ›  Q3D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Q3(d) Factor graph and occupancy grid result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850392"/>
            <a:ext cx="11365992" cy="0"/>
          </a:xfrm>
          <a:prstGeom prst="line">
            <a:avLst/>
          </a:prstGeom>
          <a:ln w="127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q3d_floor7_hall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4297680" cy="1432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491947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B949E"/>
                </a:solidFill>
              </a:rPr>
              <a:t>Floor7_Hallway before / after GTSAM PGO. Cost 69762 → 2752 (25×).</a:t>
            </a:r>
          </a:p>
        </p:txBody>
      </p:sp>
      <p:pic>
        <p:nvPicPr>
          <p:cNvPr id="8" name="Picture 7" descr="q3d_grid_basemen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914400"/>
            <a:ext cx="4297680" cy="21601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92040" y="491947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B949E"/>
                </a:solidFill>
              </a:rPr>
              <a:t>Basement_1 occupancy grid before / after PGO.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9601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SE(2) GTSAM 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298448"/>
            <a:ext cx="20116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1472" y="1298448"/>
            <a:ext cx="253288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Prior: σ=1e−4 anchors x₀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559051"/>
            <a:ext cx="20116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1472" y="1559051"/>
            <a:ext cx="253288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Odom: ICP Hessian as info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819655"/>
            <a:ext cx="20116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1819655"/>
            <a:ext cx="253288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Loop: per-loop ICP Hessian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080260"/>
            <a:ext cx="20116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472" y="2080260"/>
            <a:ext cx="253288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Hessian: (θ,tx,ty) → (tx,ty,θ)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340864"/>
            <a:ext cx="20116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340864"/>
            <a:ext cx="253288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</a:rPr>
              <a:t>LM: 200 iter, rel.tol=1e−8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166360"/>
            <a:ext cx="2103120" cy="260603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Sequence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5166360"/>
            <a:ext cx="640080" cy="260603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Loops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5166360"/>
            <a:ext cx="1828800" cy="260603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Cost i→f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5166360"/>
            <a:ext cx="1554480" cy="260603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Closure Before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5166360"/>
            <a:ext cx="1554480" cy="260603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Closure After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5166360"/>
            <a:ext cx="1965960" cy="260603"/>
          </a:xfrm>
          <a:prstGeom prst="rect">
            <a:avLst/>
          </a:prstGeom>
          <a:solidFill>
            <a:srgbClr val="00D4AA"/>
          </a:solidFill>
          <a:ln w="6350"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100" b="1">
                <a:solidFill>
                  <a:srgbClr val="000000"/>
                </a:solidFill>
              </a:rPr>
              <a:t>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426964"/>
            <a:ext cx="2103120" cy="260603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Floor7_Hallway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5426964"/>
            <a:ext cx="640080" cy="260603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5426964"/>
            <a:ext cx="1828800" cy="260603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69762→2752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5426964"/>
            <a:ext cx="1554480" cy="260603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0.166 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5426964"/>
            <a:ext cx="1554480" cy="260603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0.221 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5426964"/>
            <a:ext cx="1965960" cy="260603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worse (LM tension)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687568"/>
            <a:ext cx="2103120" cy="260603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Basement_1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5687568"/>
            <a:ext cx="640080" cy="260603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4680" y="5687568"/>
            <a:ext cx="1828800" cy="260603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61253→7349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80" y="5687568"/>
            <a:ext cx="1554480" cy="260603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0.170 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5687568"/>
            <a:ext cx="1554480" cy="260603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0.204 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5687568"/>
            <a:ext cx="1965960" cy="260603"/>
          </a:xfrm>
          <a:prstGeom prst="rect">
            <a:avLst/>
          </a:prstGeom>
          <a:solidFill>
            <a:srgbClr val="161B22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worse (LM tension)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948172"/>
            <a:ext cx="2103120" cy="260603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Outdoor_1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5948172"/>
            <a:ext cx="640080" cy="260603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5948172"/>
            <a:ext cx="1828800" cy="260603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0→0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83480" y="5948172"/>
            <a:ext cx="1554480" cy="260603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8.084 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5948172"/>
            <a:ext cx="1554480" cy="260603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8.084 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2440" y="5948172"/>
            <a:ext cx="1965960" cy="260603"/>
          </a:xfrm>
          <a:prstGeom prst="rect">
            <a:avLst/>
          </a:prstGeom>
          <a:solidFill>
            <a:srgbClr val="1C242E"/>
          </a:solidFill>
          <a:ln w="6350">
            <a:solidFill>
              <a:srgbClr val="21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ctr"/>
            <a:r>
              <a:rPr sz="1050" b="0">
                <a:solidFill>
                  <a:srgbClr val="E6EDF3"/>
                </a:solidFill>
              </a:rPr>
              <a:t>no loops — unchanged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C42"/>
                </a:solidFill>
              </a:rPr>
              <a:t>LIDAR SLAM  ›  Q3D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Q3(d) Factor graph — why closure error grows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850392"/>
            <a:ext cx="11365992" cy="0"/>
          </a:xfrm>
          <a:prstGeom prst="line">
            <a:avLst/>
          </a:prstGeom>
          <a:ln w="127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q3d_basemen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5943600" cy="1989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074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B949E"/>
                </a:solidFill>
              </a:rPr>
              <a:t>Basement_1: before (left) vs after PGO (right). Cost drops 8× but closure distance grows.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9601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8272" y="960120"/>
            <a:ext cx="5276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PGO minimises the Mahalanobis sum of ALL factor residuals simultaneously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344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1234440"/>
            <a:ext cx="5276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Closure error = residual on ONE implied edge (first ↔ last pose)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508760"/>
            <a:ext cx="5276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When loop and odometry edges disagree, LM finds the compromise minimising total 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1783080"/>
            <a:ext cx="5276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this can worsen any individual residual including closure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574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057400"/>
            <a:ext cx="5276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Per-loop ICP Hessian is large (tight loop covariance) → pulls optimiser away from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317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331720"/>
            <a:ext cx="5276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odometry chain → GTSAM: 'cannot decrease error at maximum lambda'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06039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2606039"/>
            <a:ext cx="5276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→ loop and odometry constraints in tension; solver stuck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64992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Identified fixes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75887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675887"/>
            <a:ext cx="5276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Scale down loop information matrix by constant (÷10) → softer loop constraint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950207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950207"/>
            <a:ext cx="5276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Cauchy or Huber robust kernel on loop edges → down-weight outlier loops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24527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4224527"/>
            <a:ext cx="5276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Chordal SE(2) initialisation → better LM starting point, faster convergence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498847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4498847"/>
            <a:ext cx="5276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Scale per-loop info by ICP score — weak matches contribute less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5166360"/>
            <a:ext cx="5440680" cy="685800"/>
          </a:xfrm>
          <a:prstGeom prst="rect">
            <a:avLst/>
          </a:prstGeom>
          <a:solidFill>
            <a:srgbClr val="161B22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64008" bIns="64008"/>
          <a:lstStyle/>
          <a:p>
            <a:pPr algn="ctr"/>
            <a:r>
              <a:rPr sz="1000">
                <a:solidFill>
                  <a:srgbClr val="E6EDF3"/>
                </a:solidFill>
              </a:rPr>
              <a:t>Informative finding: tightly weighted per-loop Hessian is more accurate than fixed σ but too tight causes solver tension. Softening by ÷10 lets odometry chain dominate and closure error would decrease.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Summary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50392"/>
            <a:ext cx="11365992" cy="0"/>
          </a:xfrm>
          <a:prstGeom prst="line">
            <a:avLst/>
          </a:prstGeom>
          <a:ln w="127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93268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Q2 — Visual SLAM 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261872"/>
            <a:ext cx="5413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Basement_2 (indoor): full rectangle, 2336 ORB poses, 155 matched COLMAP 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27048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527048"/>
            <a:ext cx="5413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Both methods trace same room shape — 3 m scale disagreement is monocular ambiguity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792224"/>
            <a:ext cx="5413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OnePoolStreet1 (outdoor): 5759 ORB poses, 576 matched pairs — best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057400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057400"/>
            <a:ext cx="5413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Only 2.5° rotation disagreement — near-perfect orientation agreement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322576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2322576"/>
            <a:ext cx="5413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3 m translation = scale unobservable in open outdoor scene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587752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2587752"/>
            <a:ext cx="5413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BikeStorage2 night failure — no ambient texture for ORB descriptor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24612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Q2 — What walls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566160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566160"/>
            <a:ext cx="5413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Basement_2: four enclosing walls → COLMAP triangulates from both sides of 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831335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831335"/>
            <a:ext cx="5413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Monocular init gets well-posed essential matrix — no planar degeneracy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096511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4096511"/>
            <a:ext cx="5413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Without walls (outdoor): sky/ground near-zero parallax, scale unobservable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93268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</a:rPr>
              <a:t>Q3 — LiDAR SLAM key 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1261872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1" y="1261872"/>
            <a:ext cx="57790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Max range = dominant parameter: 2000 mm → 12000 mm gives 14× improvement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1527048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1" y="1527048"/>
            <a:ext cx="57790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ICP rank-deficient with only near wall — opposite wall locks translation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1792224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1" y="1792224"/>
            <a:ext cx="57790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Voxel 0.05 m optimal — denoises below sensor noise floor without merging 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2057400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1" y="2057400"/>
            <a:ext cx="57790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Angular subsampling always hurts PCA normals — full scan preferred for indoor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2322576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1" y="2322576"/>
            <a:ext cx="57790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Loop threshold 0.70 from bimodal ICP score histogram — clean gap both indoor seqs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587752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1" y="2587752"/>
            <a:ext cx="57790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PGO reduces cost 8–25× but closure error grows — loop/odometry Hessian tension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2852928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1" y="2852928"/>
            <a:ext cx="57790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Fix: scale loop info ÷10 → odometry chain dominates → closure improves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3977639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</a:rPr>
              <a:t>Q3 — What walls 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4297680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1" y="4297680"/>
            <a:ext cx="57790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Enclosed indoor: walls on both sides → ICP normal equations full-rank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4562856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9631" y="4562856"/>
            <a:ext cx="57790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Corridor (Floor7): aperture problem along wall axis — range truncation helps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828032"/>
            <a:ext cx="201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AA"/>
                </a:solidFill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1" y="4828032"/>
            <a:ext cx="57790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Outdoor courtyard: sparse geometry, ICP Hessian singular → divergence → freeze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