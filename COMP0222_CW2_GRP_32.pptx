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949E"/>
                </a:solidFill>
              </a:rPr>
              <a:t>COMP0222 Coursework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6EDF3"/>
                </a:solidFill>
              </a:rPr>
              <a:t>Visual and LiDAR SLAM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8A6FF"/>
                </a:solidFill>
              </a:rPr>
              <a:t>Group 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520440"/>
            <a:ext cx="3959352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</a:rPr>
              <a:t>Q2: Visual SLAM with Custom Sequences   |   Q3: LiDAR SLAM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D56"/>
                </a:solidFill>
              </a:rPr>
              <a:t>10-minute oral presentation  ·  UCL Department of Computer Science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Q2 — Visual SLAM with Own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Datasets  ·  Camera Calibration  ·  Reconstruction  ·  EVO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3749039" cy="23774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Data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Intel RealSense D455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3 sequences (same as LiDAR)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Basement_1  —  indoor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Floor7_Hallway  —  large indoor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Outdoor_1  —  outdoor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89864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≥500 frames after ORB-SLAM 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234440"/>
            <a:ext cx="3749039" cy="23774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Calibration &amp; 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COLMAP SfM → cameras.txt intrinsics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fx, fy, cx, cy, k1, k2 extracted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Applied to ORB-SLAM2 YAML 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ORB-SLAM2 Monocular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EVO ATE (Umeyama, correct_scale)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234440"/>
            <a:ext cx="3749039" cy="23774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</a:rPr>
              <a:t>Key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Basement_1: ATE = 0.036 m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Outdoor_1: ATE = 0.262 m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Floor7: COLMAP 8 poses (no texture)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Entrance2: 178° chirality flip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  (monocular ambiguity — expected)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794760"/>
            <a:ext cx="11795760" cy="2651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386791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What We Did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17880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• Collected 3 custom sequences covering indoor structured, large corridor, and outdoor environments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44348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• Ran COLMAP SfM to calibrate camera and extract 3D sparse reconstructions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6908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• Ran ORB-SLAM2 monocular with COLMAP intrinsics and compared trajectories using EVO 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946904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• Floor7_Hallway: COLMAP near-failure (featureless corridor).  Entrance2: ~178° orientation divergence (chirality ambiguity).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Q2b — COLMAP vs ORB-SLAM2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EVO APE with Umeyama alignment and scale correction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2b_colmap_vs_orbsl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498079" cy="5303520"/>
          </a:xfrm>
          <a:prstGeom prst="rect">
            <a:avLst/>
          </a:prstGeom>
        </p:spPr>
      </p:pic>
      <p:pic>
        <p:nvPicPr>
          <p:cNvPr id="6" name="Picture 5" descr="q2b_summary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188720"/>
            <a:ext cx="4114800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3749039"/>
            <a:ext cx="411480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3822191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133087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Basement_1: 0.036 m — very close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38912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Outdoor_1: 0.262 m — acceptable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6451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OnePoolStreet1: 3.0 m — scale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901183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Entrance2: rot=178° — chirality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15721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Floor7: 0 matched poses (COLMAP fail)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Q2b — 3D Reconstructions (COLMAP Sparse SfM)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2b_pointcloud_basem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384048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61722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Basement_1 (indoor)</a:t>
            </a:r>
          </a:p>
        </p:txBody>
      </p:sp>
      <p:pic>
        <p:nvPicPr>
          <p:cNvPr id="6" name="Picture 5" descr="q2b_pointcloud_outdoo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1188720"/>
            <a:ext cx="384048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78808" y="61722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Outdoor_1 (outdoor)</a:t>
            </a:r>
          </a:p>
        </p:txBody>
      </p:sp>
      <p:pic>
        <p:nvPicPr>
          <p:cNvPr id="8" name="Picture 7" descr="q2b_pointcloud_onepoolstree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1188720"/>
            <a:ext cx="3840480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74736" y="61722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OnePoolStreet1 (outdoor)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Q3 — LiDAR SLAM with Own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Data Collection  ·  ICP Odometry  ·  Loop Closure  ·  Factor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3749039" cy="2514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Data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RPLidar A1M8 (max range 8000 mm)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2 indoor + 1 outdoor 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Basement_1  —  indoor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Floor7_Hallway  —  large (Marshgate)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Outdoor_1  —  outdoor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89864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Exactly 2 loops, marked start/end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234440"/>
            <a:ext cx="3749039" cy="2514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Laser Odometry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Point-to-plane ICP (linearised)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Log-odds occupancy grid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Bresenham ray-casting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Keyframe-based local map (20 KF)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ICP divergence rejection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289864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  (&gt;2 m or &gt;45° rejected)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234440"/>
            <a:ext cx="3749039" cy="2514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3075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</a:rPr>
              <a:t>Loop Closure + Factor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184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Two-stage filter: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874519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  1. Pose distance &lt; 2.0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1305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  2. ICP match score ≥ 0.55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3865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GTSAM Levenberg-Marquardt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6426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Odometry edges (ω=100)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89864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Loop closure edges (ω=500)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3931920"/>
            <a:ext cx="1179576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00507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Parameter Ablations (Q3b)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315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① Max range: 2000 mm vs 8000 mm (sensor max)   ② Angular resolution: full / every 2nd / every 3rd beam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57200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③ Voxel grid: None / 0.05 m / 0.10 m / 0.20 m   ④ Scan rate: all scans / 50% / 33%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4828031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Each variation tested on all 3 sequences. Occupancy grids and closure error reported for each setting.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Q3b — Parameter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Basement_1 (indoor) — closure error per setting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3b_basem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77240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188720"/>
            <a:ext cx="3749039" cy="5303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26187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57276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Range 2000mm: misses far walls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828800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Range 8000mm: complete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08483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4086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Every 3rd beam: ICP diverges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9689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Full scan: best normal estimates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5292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108960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Voxel 0.05m: good speed+detail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6499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Voxel 0.20m: map loses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62102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87705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33% scans: trajectory drifts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133088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All scans: lowest closure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389120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645152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Sensor max range critical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901184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</a:rPr>
              <a:t>• large indoor environments.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Q3b — Occupancy Grid Maps per Parameter (Basement_1)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3b_grids_basement_1_max_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36576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Max Range (2000 vs 8000 mm)</a:t>
            </a:r>
          </a:p>
        </p:txBody>
      </p:sp>
      <p:pic>
        <p:nvPicPr>
          <p:cNvPr id="6" name="Picture 5" descr="q3b_grids_basement_1_angular_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36576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Angular Resolution (full / n=2 / n=3)</a:t>
            </a:r>
          </a:p>
        </p:txBody>
      </p:sp>
      <p:pic>
        <p:nvPicPr>
          <p:cNvPr id="8" name="Picture 7" descr="q3b_grids_basement_1_voxel_downsam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931920"/>
            <a:ext cx="576072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64008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Voxel Grid (None / 0.05 / 0.10 / 0.20 m)</a:t>
            </a:r>
          </a:p>
        </p:txBody>
      </p:sp>
      <p:pic>
        <p:nvPicPr>
          <p:cNvPr id="10" name="Picture 9" descr="q3b_grids_basement_1_scan_r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76072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64008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Scan Rate (all / 50% / 33%)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Q3c — Loop Closure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Two-stage filter: pose distance gate + ICP match score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3c_basem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5120640"/>
          </a:xfrm>
          <a:prstGeom prst="rect">
            <a:avLst/>
          </a:prstGeom>
        </p:spPr>
      </p:pic>
      <p:pic>
        <p:nvPicPr>
          <p:cNvPr id="6" name="Picture 5" descr="q3c_outdoo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76072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63093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Basement_1 (indoor)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3093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Outdoor_1 (outdoor)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Q3d — Factor Graph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GTSAM Levenberg-Marquardt  ·  Before vs After loop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3d_basem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2926080"/>
          </a:xfrm>
          <a:prstGeom prst="rect">
            <a:avLst/>
          </a:prstGeom>
        </p:spPr>
      </p:pic>
      <p:pic>
        <p:nvPicPr>
          <p:cNvPr id="6" name="Picture 5" descr="q3d_grid_basemen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76072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1148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Trajectory: before / after optimisation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1148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Occupancy grid: before / after optimisation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4480560"/>
            <a:ext cx="1179576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55371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Factor Graph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6460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• Odometry edges between consecutive keyframes (information weight ω=100)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51206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• Loop closure edges from confirmed detections (ω=500, higher trust)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3766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• Anchor prior on pose 0 fixes global frame.  Closure error = Euclidean distance from start to end pose.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6EDF3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024128"/>
            <a:ext cx="11640312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1234440"/>
            <a:ext cx="576072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0759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</a:rPr>
              <a:t>Q2 — Visual SLAM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1848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Collected 3 sequences with RealSense D455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74519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COLMAP calibration + SfM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30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ORB-SLAM2 monocular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386584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EVO ATE: Basement_1 = 0.036 m (excellent)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64261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Chirality ambiguity on Entrance2 (~178°)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89864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Floor7 COLMAP near-failure (featureless)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760720" cy="28346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30759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Q3 — LiDAR SLAM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161848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2-loop sequences, marked start/end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874519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Point-to-plane ICP + log-odds 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130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4 parameter ablations with grid screenshots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386584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Two-stage loop closure (pose dist + ICP)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64261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GTSAM factor graph reduces closure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89864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Consistent maps across both loops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251960"/>
            <a:ext cx="57607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2511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</a:rPr>
              <a:t>Environment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63600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Indoor (Basement): cleanest maps for both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8920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Outdoor: scale ambiguity (monocular)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148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  open space challenges LiDAR too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404104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Corridor (Floor7): hard for both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251960"/>
            <a:ext cx="57607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59" y="432511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</a:rPr>
              <a:t>Visual vs LiDAR SLAM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463600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LiDAR: excels in structured indoor spaces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48920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ORB-SLAM2: more robust to dynamic elements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5148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COLMAP needs texture; LiDAR needs geometry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9" y="5404104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</a:rPr>
              <a:t>• Both degrade in featureless environments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