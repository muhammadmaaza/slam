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</a:rPr>
              <a:t>COMP0222 Coursework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6EDF3"/>
                </a:solidFill>
              </a:rPr>
              <a:t>Visual and LiDAR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8A6FF"/>
                </a:solidFill>
              </a:rPr>
              <a:t>Group 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520440"/>
            <a:ext cx="39593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B949E"/>
                </a:solidFill>
              </a:rPr>
              <a:t>Q2: Visual SLAM with Custom Sequences   |   Q3: LiDAR SLAM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D56"/>
                </a:solidFill>
              </a:rPr>
              <a:t>10-minute oral presentation  ·  UCL Department of Computer Science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</a:rPr>
              <a:t>Q2 — Visual SLAM with Own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Datasets  ·  Camera Calibration  ·  Reconstruction  ·  EVO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234440"/>
            <a:ext cx="3749039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Data Collection (9 sequences)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1848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Intel RealSense D455, 848×480 @ 30fps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74519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Auto-exposure locked after 2s warm-up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305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0.3–0.5 m/s walking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8658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Required: ≥500 poses after ORB 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4261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Basement_1: 852 poses  ✓  (indoor)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986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Outdoor_1:  584 poses  ✓  (outdoor)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234440"/>
            <a:ext cx="3749039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3075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COLMAP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61848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COLMAP SfM on each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1874519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OPENCV model: fx, fy, cx, cy, k1...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1305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Basement_1 scratch: f=383.7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238658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  (factory fx=426.7, Δ≈10%)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264261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Other sequences: within 0.3–1.6%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8986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Per-sequence ORB-SLAM2 YAML generated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34440"/>
            <a:ext cx="3749039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3075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8166"/>
                </a:solidFill>
              </a:rPr>
              <a:t>Key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61848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Basement_1: inter-method agree. ~83mm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874519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Outdoor_1: agree. ~194mm (scale drift)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305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Large rot. disagreement = scale mismatch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8658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  (monocular — no metric scale ref.)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4261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Floor7: COLMAP fail (featureless walls)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986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BikeStorage2: tracking fail at night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794760"/>
            <a:ext cx="11795760" cy="2651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86791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Method (Q2 Pipeline)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17880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• COLMAP SfM → calibrated intrinsics → per-sequence ORB-SLAM2 YAML → calibrated ORB rerun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43484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• EVO APE with Umeyama SE(3)+scale correction: measures inter-method agreement (no ground truth)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69087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• "ATE" reported = COLMAP-vs-ORB disagreement, not accuracy against truth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94690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• Scale-normalised RMSE (m/m) used for cross-sequence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</a:rPr>
              <a:t>Q2b — COLMAP vs ORB-SLAM2 Trajectories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EVO APE with Umeyama alignment and scale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2b_colmap_vs_orbs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77724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84048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727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Basement_1: 83mm — very good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Outdoor_1: 194mm — scale ambiguity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848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OnePoolStreet1: large rot. disagreement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408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  → scale mismatch after Sim(3) align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968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Floor7: COLMAP fail (featureless)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529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108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NOTE: "ATE" = inter-method agreement.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64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No external ground truth available.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210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Large rotation ≠ broken trajectory.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8770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Both methods are internally consistent.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</a:rPr>
              <a:t>Q2b — 3D Reconstructions (COLMAP Sparse SfM)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24128"/>
            <a:ext cx="11640312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2b_pointcloud_baseme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384048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1722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Basement_1 (indoor)</a:t>
            </a:r>
          </a:p>
        </p:txBody>
      </p:sp>
      <p:pic>
        <p:nvPicPr>
          <p:cNvPr id="6" name="Picture 5" descr="q2b_pointcloud_outdoor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88720"/>
            <a:ext cx="384048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78808" y="61722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Outdoor_1 (outdoor)</a:t>
            </a:r>
          </a:p>
        </p:txBody>
      </p:sp>
      <p:pic>
        <p:nvPicPr>
          <p:cNvPr id="8" name="Picture 7" descr="q2b_pointcloud_onepoolstree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188720"/>
            <a:ext cx="3840480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74736" y="61722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OnePoolStreet1 (outdoor)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</a:rPr>
              <a:t>Q3 — LiDAR SLAM with Own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Data Collection  ·  ICP Odometry  ·  Loop Closure  ·  Factor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234440"/>
            <a:ext cx="3749039" cy="2514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1848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RPLidar A2M12 (max range 12000 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74519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2 indoor + 1 outdoor 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305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Basement_1  —  indoor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8658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Floor7_Hallway  —  large (Marshgate)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4261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Outdoor_1  —  outdoor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986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Exactly 2 loops, marked start/end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234440"/>
            <a:ext cx="3749039" cy="2514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3075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Laser Odometry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61848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Huber-robust point-to-plane ICP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1874519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Log-odds occupancy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1305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Bresenham ray-casting (unbounded)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238658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Keyframe-based local map (20 KF)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264261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ICP divergence rejection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8986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  (&gt;0.5 m or &gt;25° rejected)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34440"/>
            <a:ext cx="3749039" cy="2514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3075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8166"/>
                </a:solidFill>
              </a:rPr>
              <a:t>Loop Closure + Factor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61848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Multi-stage gating: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874519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  1. Temporal separation ≥ 10 KF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305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  2. Adaptive arc-length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8658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  3. Pose distance &lt; 2.0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4261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  4. ICP match score ≥ 0.70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986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GTSAM Levenberg-Marquardt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15468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Per-edge 3×3 info (ICP Hessian)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1071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Loop info tighter than odometry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931920"/>
            <a:ext cx="117957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00507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Parameter Ablations (Q3b)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315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① Max range: 2000 mm vs 12000 mm (sensor max)   ② Angular resolution: full / every 2nd / every 3rd beam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57200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③ Voxel grid: None / 0.05 m / 0.10 m / 0.20 m   ④ Scan rate: all scans / 50% / 33%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828031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Each variation tested on all 3 sequences. Occupancy grids and closure error reported for each setting.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</a:rPr>
              <a:t>Q3b — Parameter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Basement_1 (indoor) — closure error per setting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3b_baseme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77724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188720"/>
            <a:ext cx="3749039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26187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57276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Range 2000mm: misses far walls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Range 12000mm: complete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08483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4086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Every 3rd beam: ICP diverges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9689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Full scan: best normal estimates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5292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0896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Voxel 0.05m: good speed+detail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6499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Voxel 0.20m: map loses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62102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87705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33% scans: trajectory drifts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3308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All scans: lowest closure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8912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6451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Sensor max range critical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90118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• large indoor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</a:rPr>
              <a:t>Q3b — Occupancy Grid Maps per Parameter (Basement_1)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24128"/>
            <a:ext cx="11640312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3b_grids_basement_1_max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365760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Max Range (2000 vs 12000 mm)</a:t>
            </a:r>
          </a:p>
        </p:txBody>
      </p:sp>
      <p:pic>
        <p:nvPicPr>
          <p:cNvPr id="6" name="Picture 5" descr="q3b_grids_basement_1_angular_re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76072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365760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Angular Resolution (full / n=2 / n=3)</a:t>
            </a:r>
          </a:p>
        </p:txBody>
      </p:sp>
      <p:pic>
        <p:nvPicPr>
          <p:cNvPr id="8" name="Picture 7" descr="q3b_grids_basement_1_voxel_downsamp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931920"/>
            <a:ext cx="576072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640080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Voxel Grid (None / 0.05 / 0.10 / 0.20 m)</a:t>
            </a:r>
          </a:p>
        </p:txBody>
      </p:sp>
      <p:pic>
        <p:nvPicPr>
          <p:cNvPr id="10" name="Picture 9" descr="q3b_grids_basement_1_scan_r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576072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640080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Scan Rate (all / 50% / 33%)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</a:rPr>
              <a:t>Q3c — Loop Closure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Two-stage filter: pose distance gate + ICP match score confirmation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3c_baseme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5120640"/>
          </a:xfrm>
          <a:prstGeom prst="rect">
            <a:avLst/>
          </a:prstGeom>
        </p:spPr>
      </p:pic>
      <p:pic>
        <p:nvPicPr>
          <p:cNvPr id="6" name="Picture 5" descr="q3c_outdoor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7607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63093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Basement_1 (indoor)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3093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Outdoor_1 (outdoor)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</a:rPr>
              <a:t>Q3d — Factor Graph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GTSAM Levenberg-Marquardt  ·  Before vs After loop closure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3d_baseme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2926080"/>
          </a:xfrm>
          <a:prstGeom prst="rect">
            <a:avLst/>
          </a:prstGeom>
        </p:spPr>
      </p:pic>
      <p:pic>
        <p:nvPicPr>
          <p:cNvPr id="6" name="Picture 5" descr="q3d_grid_basemen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76072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1148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Trajectory: before / after optimisation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1148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Occupancy grid: before / after optimisation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4480560"/>
            <a:ext cx="1179576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55371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Factor Graph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6460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• Odometry edges: per-edge 3×3 info matrix from ICP Hessian (scaled by inlier count) + diagonal regulariser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12064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• Loop edges: per-loop ICP Hessian propagated from loop-detection ICP (not fixed sigma — correctly weighted)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37667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• GTSAM LM, 200 iter, rel.tol=1e-8.  Closure error = Euclidean distance start→end (before vs after).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24128"/>
            <a:ext cx="11640312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234440"/>
            <a:ext cx="5760720" cy="2834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075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Q2 — Visual SLAM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184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Collected 9 sequences with RealSense D455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19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COLMAP calibration → YAML → ORB-SLAM2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305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Basement_1: 852 poses, agree. ~83mm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865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Outdoor_1: 584 poses, agree. ~194mm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426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Scale disagreement explained (no metric ref)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986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Floor7 COLMAP near-failure (featureless)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760720" cy="2834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3075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Q3 — LiDAR SLAM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6184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2-loop sequences (proximity-based lap detect)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874519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Huber-robust point-to-plane ICP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1305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4 parameter sweeps: range/angular/voxel/rate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3865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4-gate loop closure (score bimodal gap at 0.70)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6426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GTSAM PGO: Floor7 −62%, Basement −15%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986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ICP Hessian correctly weights all edges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251960"/>
            <a:ext cx="57607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32511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8166"/>
                </a:solidFill>
              </a:rPr>
              <a:t>Environment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6360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Indoor (Basement): cleanest maps for both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892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Outdoor: scale ambiguity (monocular)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1480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  open space challenges LiDAR too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4041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Corridor (Floor7): hard for both 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251960"/>
            <a:ext cx="57607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432511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8166"/>
                </a:solidFill>
              </a:rPr>
              <a:t>Visual vs LiDAR SLAM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6360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LiDAR: excels in structured indoor spaces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892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ORB-SLAM2: more robust to dynamic elements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51480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COLMAP needs texture; LiDAR needs geometry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54041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• Both degrade in featureless environments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